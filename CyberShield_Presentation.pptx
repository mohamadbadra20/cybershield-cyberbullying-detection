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 Score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C=0.1 (1,1)</c:v>
                </c:pt>
                <c:pt idx="1">
                  <c:v>C=0.1 (1,2)</c:v>
                </c:pt>
                <c:pt idx="2">
                  <c:v>C=1.0 (1,1)</c:v>
                </c:pt>
                <c:pt idx="3">
                  <c:v>C=1.0 (1,2) BEST</c:v>
                </c:pt>
                <c:pt idx="4">
                  <c:v>C=10 (1,1)</c:v>
                </c:pt>
                <c:pt idx="5">
                  <c:v>C=10 (1,2)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</c:v>
                </c:pt>
                <c:pt idx="1">
                  <c:v>0.8</c:v>
                </c:pt>
                <c:pt idx="2">
                  <c:v>0.8</c:v>
                </c:pt>
                <c:pt idx="3">
                  <c:v>0.82120000000000004</c:v>
                </c:pt>
                <c:pt idx="4">
                  <c:v>0.8</c:v>
                </c:pt>
                <c:pt idx="5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5-4E4B-9826-C18B5D215A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4"/>
          <c:min val="0.7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3B924-B309-B341-9145-3918C67C297C}" type="datetimeFigureOut">
              <a:rPr lang="" smtClean="0"/>
              <a:t>07/29/2026</a:t>
            </a:fld>
            <a:endParaRPr lang="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9DF99-9F89-2F44-8920-617BE5A95F2A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55743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71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94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CYBERSHIELD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Type Detection on Social Media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301779" y="2240280"/>
            <a:ext cx="2560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9222" y="4648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50742" y="4648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Badra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411480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4572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841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4712" y="822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4712" y="1133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detecting cyberbullying type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749808"/>
            <a:ext cx="411480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749808"/>
            <a:ext cx="4572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841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13832" y="822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13832" y="1133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 tweets across 6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773936"/>
            <a:ext cx="411480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773936"/>
            <a:ext cx="4572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1865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4712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" y="2157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pipeline, TF-IDF, RoBERTa embeddings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773936"/>
            <a:ext cx="411480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773936"/>
            <a:ext cx="4572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865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13832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13832" y="2157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vs fine-tuned RoBERTa transformer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798064"/>
            <a:ext cx="411480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798064"/>
            <a:ext cx="4572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24712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Error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" y="3182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scores, confusion matrices, class-level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798064"/>
            <a:ext cx="411480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798064"/>
            <a:ext cx="4572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13832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13832" y="3182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importance + LIME local explanations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14600" y="3822192"/>
            <a:ext cx="411480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14600" y="3822192"/>
            <a:ext cx="4572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227832" y="3895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27832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+ CyberShield web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3977640" cy="4096512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397764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280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young people experience cyberbullying online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116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process millions of posts daily — manual review impossible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79776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43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classifiers detect IF bullying occurred, not WHAT 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74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type info, targeted moderation cannot be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749808"/>
            <a:ext cx="4114800" cy="40965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749808"/>
            <a:ext cx="41148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8412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CyberShield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234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tweets into 6 specific cyberbullying types: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6420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664208"/>
            <a:ext cx="36576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7007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36792" y="17007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targeting age group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103120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03120"/>
            <a:ext cx="36576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1396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21396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/ ethnic harassment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54203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542032"/>
            <a:ext cx="36576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5786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36792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bullying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98094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980944"/>
            <a:ext cx="36576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175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36792" y="30175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discrimination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41985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419856"/>
            <a:ext cx="36576" cy="38404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4564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other_cyberbullying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36792" y="3456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forms of online abuse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587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858768"/>
            <a:ext cx="365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8953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not_cyberbullying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36792" y="3895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harmless content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96596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196596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412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749808"/>
            <a:ext cx="196596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87752" y="749808"/>
            <a:ext cx="1965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8412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87752" y="13716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64024" y="749808"/>
            <a:ext cx="196596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64024" y="749808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8412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64024" y="13716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0296" y="749808"/>
            <a:ext cx="196596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0296" y="749808"/>
            <a:ext cx="196596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0296" y="8412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0296" y="13716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1965960"/>
            <a:ext cx="832104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38528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15968" y="2011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Tweet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2313432"/>
            <a:ext cx="8321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350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38528" y="2350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targeting age group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15968" y="2350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 your age are useless"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743200"/>
            <a:ext cx="83210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779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38528" y="27797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or ethnic harassment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15968" y="27797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back to your country"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172968"/>
            <a:ext cx="8321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2095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38528" y="32095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bullying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15968" y="32095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"Women don't belong here"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602736"/>
            <a:ext cx="83210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639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38528" y="36393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discrimination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15968" y="36393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"Ashamed of your religion"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032504"/>
            <a:ext cx="8321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069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other_cyberbullying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38528" y="4069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forms of online abuse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15968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harassment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462272"/>
            <a:ext cx="83210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988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not_cyberbullying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38528" y="4498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harmless text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15968" y="4498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"Beautiful weather today!"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8170" y="965585"/>
            <a:ext cx="3309734" cy="2743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5712" r="-23637" b="-38172"/>
            </a:stretch>
          </a:blipFill>
          <a:ln w="12700">
            <a:noFill/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12041" y="962853"/>
            <a:ext cx="4744941" cy="329551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96922"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133088"/>
            <a:ext cx="8321040" cy="749808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4439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balanced ~16-17% per class  |  Tweets range 1-40 words, median ~18 words  |  not_cyberbullying shows the most varied vocabulary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Analysis — Word Clouds &amp; N-grams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66630" y="632426"/>
            <a:ext cx="6410740" cy="451107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Analysis — Word Clouds &amp; N-grams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70058" y="601814"/>
            <a:ext cx="7112443" cy="454168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87103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2670048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45720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8595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859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text to lowercase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749808"/>
            <a:ext cx="2670048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749808"/>
            <a:ext cx="45720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8595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13632" y="859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Mention Removal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13632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http links, @usernames removed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27064" y="749808"/>
            <a:ext cx="2670048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749808"/>
            <a:ext cx="45720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8595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1424" y="859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&amp; Digits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1424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Non-alphanumeric characters discarded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048256"/>
            <a:ext cx="2670048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048256"/>
            <a:ext cx="45720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1579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21579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487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English stopword list applied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9272" y="2048256"/>
            <a:ext cx="2670048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2048256"/>
            <a:ext cx="45720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21579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13632" y="21579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13632" y="2487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reduces words to base forms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27064" y="2048256"/>
            <a:ext cx="2670048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7064" y="2048256"/>
            <a:ext cx="45720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21579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21424" y="21579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Token Filter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21424" y="2487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of length 2 or fewer discarded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858768"/>
            <a:ext cx="8321040" cy="658368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31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— Stratified Sampling — Random Seed = 42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187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70%  (32,998 samples)    Validation: 15%  (7,088 samples)    Test: 15%  (7,088 samples)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 — TF-IDF Pipeline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Configuration:  max_features=30,000  |  ngram_range=(1,2)  |  sublinear_tf=True  |  min_df=2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16339"/>
            <a:ext cx="2633472" cy="90525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16339"/>
            <a:ext cx="2633472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07779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0775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C=1.0, max_iter=1000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strategy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65565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27832" y="1316339"/>
            <a:ext cx="2633472" cy="90525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316339"/>
            <a:ext cx="26334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07779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46704" y="160775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C=1.0, max_iter=2000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965565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44184" y="1316339"/>
            <a:ext cx="2633472" cy="90525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44184" y="1316339"/>
            <a:ext cx="2633472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407779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160775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81344" y="1965565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243" y="2302702"/>
            <a:ext cx="7042073" cy="279060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 — Fine-tuned RoBERTa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186" y="749808"/>
            <a:ext cx="4041648" cy="40965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186" y="749808"/>
            <a:ext cx="4041648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0346" y="841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626" y="1207008"/>
            <a:ext cx="38587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066" y="1243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1986" y="1243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 (HuggingFace)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626" y="1609344"/>
            <a:ext cx="385876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066" y="1645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1986" y="1645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weight decay 0.01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626" y="2011680"/>
            <a:ext cx="38587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066" y="20482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1986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 with linear warmup (10%)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626" y="2414016"/>
            <a:ext cx="385876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066" y="2450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1986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626" y="2816352"/>
            <a:ext cx="38587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066" y="2852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1986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626" y="3218688"/>
            <a:ext cx="385876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066" y="32552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1986" y="3255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(early stopping, patience=2)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4626" y="3621024"/>
            <a:ext cx="38587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066" y="3657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1986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norm 1.0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626" y="4023360"/>
            <a:ext cx="385876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066" y="40599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1986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4626" y="4425696"/>
            <a:ext cx="38587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6066" y="44622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F1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61986" y="4462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 |  Accuracy: 0.85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66274" y="1499616"/>
            <a:ext cx="4877726" cy="285362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Performance Comparison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8404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046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01568" y="804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73168" y="804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44768" y="804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79792" y="804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225296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(TF-IDF)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73168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44768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79792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1480" y="2048256"/>
            <a:ext cx="832104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2176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73168" y="2176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44768" y="2176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79792" y="2176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11480" y="2871216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29992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73168" y="29992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44768" y="29992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79792" y="29992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11480" y="3694176"/>
            <a:ext cx="8321040" cy="768096"/>
          </a:xfrm>
          <a:prstGeom prst="rect">
            <a:avLst/>
          </a:prstGeom>
          <a:solidFill>
            <a:srgbClr val="F0FF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694176"/>
            <a:ext cx="45720" cy="7680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RoBERTa (Fine-tuned)  BEST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1568" y="38221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773168" y="38221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144768" y="38221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79792" y="38221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11480" y="4553712"/>
            <a:ext cx="8321040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60857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weakness: not_cyberbullying (F1=0.59) and other_cyberbullying (F1=0.67) are the most ambiguous and hardest categories for both models.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5152" y="685800"/>
            <a:ext cx="4087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(Fine-tuned)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987552"/>
            <a:ext cx="4453128" cy="38679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5152" y="987552"/>
            <a:ext cx="4453128" cy="382219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4892040"/>
            <a:ext cx="8321040" cy="256032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92861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confusion: not_cyberbullying vs other_cyberbullying  |  ethnicity vs religion misclassification visible in both models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45720" cy="8229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22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not_cyberbullying  (F1: 0.59)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confused class — everyday language overlaps with mild harmful content. 400 samples misclassified as other_cyberbullying by RoBERTa.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83210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37360"/>
            <a:ext cx="4572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other_cyberbullying  (F1: 0.67)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category with heterogeneous content — by definition the most diverse class, making it hardest to model consistently.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24912"/>
            <a:ext cx="83210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724912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 vs religion confusion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0723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confuse these classes. Harassment frequently targets both attributes simultaneously in the same tweet.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712464"/>
            <a:ext cx="83210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712464"/>
            <a:ext cx="4572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85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tweets (less than 5 words)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405993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context for classification — both models struggle equally with extremely short inputs regardless of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 |  3-Fold Cross-Validation  |  12 configurations  |  36 total fits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960120"/>
          <a:ext cx="5029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960120"/>
            <a:ext cx="3108960" cy="3246120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23560" y="960120"/>
            <a:ext cx="310896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0515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0" y="1444752"/>
            <a:ext cx="2926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481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14813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15000" y="1883664"/>
            <a:ext cx="292608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ngram_range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1920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0" y="2322576"/>
            <a:ext cx="2926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23591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15000" y="2761488"/>
            <a:ext cx="292608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798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0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15000" y="3200400"/>
            <a:ext cx="2926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3236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0" y="32369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0.8209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480" y="4315968"/>
            <a:ext cx="8321040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4074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30,000 features achieves the same F1 as 50,000 — the model generalizes well with a smaller, more efficient vocabulary.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— SHAP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061376" y="61443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— Global feature importance across all test samples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61372" y="843036"/>
            <a:ext cx="4736992" cy="383034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4699218"/>
            <a:ext cx="8321040" cy="402336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1750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findings: Top features are "school", "nigger", "dumb", "bully", "muslim"  |  Religious terms dominate religion class  |  Racial terms dominate ethnicity class  |  Predictions are linguistically grounded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">
            <a:extLst>
              <a:ext uri="{FF2B5EF4-FFF2-40B4-BE49-F238E27FC236}">
                <a16:creationId xmlns:a16="http://schemas.microsoft.com/office/drawing/2014/main" id="{98FB3A67-FA66-470B-88DA-117E61988006}"/>
              </a:ext>
            </a:extLst>
          </p:cNvPr>
          <p:cNvSpPr/>
          <p:nvPr/>
        </p:nvSpPr>
        <p:spPr>
          <a:xfrm>
            <a:off x="411480" y="960120"/>
            <a:ext cx="2487168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— LIME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 — per-instance word contribution weights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2304288" cy="2286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age 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"school, high, girl, bullied"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top positive contributors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82112" y="960120"/>
            <a:ext cx="2487168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3552" y="1051560"/>
            <a:ext cx="2304288" cy="2286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73552" y="342900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gender 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"girl" negative, "theyve, look"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for other_cb category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61888" y="960120"/>
            <a:ext cx="2487168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53328" y="1051560"/>
            <a:ext cx="2304288" cy="2286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342900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ethnicity 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"nigger, dumb, fuck"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top positive contributors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4315968"/>
            <a:ext cx="8321040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4398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provides per-instance justification — shows exactly which words drove the model decision for each individual tweet.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4133088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45720" cy="17373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86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identifies performance disparities across demographic groups. Social media training data inherits real-world biases. Class-level SHAP reveals if any group is disproportionately flagged.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82312" y="749808"/>
            <a:ext cx="4133088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82312" y="749808"/>
            <a:ext cx="45720" cy="1737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886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Balance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25272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suppress free speech; false negatives harm victims. Both carry distinct costs requiring careful balance per platform policy and community standards.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88336"/>
            <a:ext cx="4133088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688336"/>
            <a:ext cx="45720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191256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assists — never replaces — human moderators. No automated account suspensions based solely on model output. All predictions should require human review.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82312" y="2688336"/>
            <a:ext cx="4133088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2688336"/>
            <a:ext cx="45720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8254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3191256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retraining as online language evolves. Users must have a clear appeals process for moderation decisions. Not to be used as the sole basis for banning.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FastAPI + CyberShield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01763" y="799505"/>
            <a:ext cx="4087368" cy="2148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1763" y="799505"/>
            <a:ext cx="40873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79" y="890945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Web Interface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79" y="1311569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47" y="1274993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tweet analysis (Enter key shortcut)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79" y="1640753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47" y="1604177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confidence bars for all 6 categories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79" y="1969937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47" y="1933361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verdict card + emoji per 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79" y="2299121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47" y="2262545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example tweets for demonstration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79" y="2628305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47" y="2591729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CORS-enabled — works from any browser</a:t>
            </a:r>
            <a:endParaRPr lang="en-US" sz="10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CBC5185-E628-47B7-9C2A-FD4360C43BC2}"/>
              </a:ext>
            </a:extLst>
          </p:cNvPr>
          <p:cNvSpPr/>
          <p:nvPr/>
        </p:nvSpPr>
        <p:spPr>
          <a:xfrm>
            <a:off x="4690872" y="626165"/>
            <a:ext cx="4041648" cy="4517336"/>
          </a:xfrm>
          <a:prstGeom prst="roundRect">
            <a:avLst>
              <a:gd name="adj" fmla="val 10765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noFill/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4572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784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841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outperforms classical 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188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0.84 vs 0.82 (Logistic Regression) — contextual embeddings capture semantic nuance TF-IDF cannot represent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83210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55648"/>
            <a:ext cx="457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842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18470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beats binary classification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194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6-way classification gives actionable insight for moderation — not just yes/no detection; platforms can apply targeted policies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83210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761488"/>
            <a:ext cx="457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900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" y="2852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validates the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200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confirm predictions driven by linguistically meaningful words — not spurious correlations; builds trust in deployment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767328"/>
            <a:ext cx="83210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767328"/>
            <a:ext cx="4572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95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3858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reproducible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206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tweet to deployed REST API — seed 42 fixed, all library versions pinned, full pipeline documented and reproducible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solidFill>
            <a:srgbClr val="E8F0FA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4632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multilingual extension, code-switching handling, user-level features, horizontal API scaling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— Cyberbullying Type Detection on Social Media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127" y="285292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Badra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2858</TotalTime>
  <Words>1235</Words>
  <Application>Microsoft Office PowerPoint</Application>
  <PresentationFormat>On-screen Show (16:9)</PresentationFormat>
  <Paragraphs>259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Mohamad Badra</cp:lastModifiedBy>
  <cp:revision>14</cp:revision>
  <dcterms:created xsi:type="dcterms:W3CDTF">2026-05-09T08:50:10Z</dcterms:created>
  <dcterms:modified xsi:type="dcterms:W3CDTF">2026-07-29T15:44:45Z</dcterms:modified>
</cp:coreProperties>
</file>